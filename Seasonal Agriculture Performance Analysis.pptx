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5" d="100"/>
          <a:sy n="85" d="100"/>
        </p:scale>
        <p:origin x="494" y="6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9/17/2026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9/17/2026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9/17/2026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siddharthmahajan2477-dot/Seasonal-Agriculture-Performance-Analysis.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035061" y="3530652"/>
            <a:ext cx="7212468" cy="861497"/>
          </a:xfrm>
        </p:spPr>
        <p:txBody>
          <a:bodyPr vert="horz" lIns="91440" tIns="45720" rIns="91440" bIns="45720" rtlCol="0" anchor="t">
            <a:noAutofit/>
          </a:bodyPr>
          <a:lstStyle/>
          <a:p>
            <a:r>
              <a:rPr lang="en-US" b="0" dirty="0">
                <a:solidFill>
                  <a:schemeClr val="tx1"/>
                </a:solidFill>
              </a:rPr>
              <a:t>Siddharth Sandesh Mahajan</a:t>
            </a:r>
          </a:p>
          <a:p>
            <a:r>
              <a:rPr lang="en-US" b="0" dirty="0">
                <a:solidFill>
                  <a:schemeClr val="tx1"/>
                </a:solidFill>
              </a:rPr>
              <a:t>Department of Technology, Savitribai Phule Pune University</a:t>
            </a:r>
          </a:p>
          <a:p>
            <a:pPr algn="r"/>
            <a:endParaRPr lang="en-US" b="0" dirty="0">
              <a:solidFill>
                <a:schemeClr val="tx1"/>
              </a:solidFill>
            </a:endParaRPr>
          </a:p>
          <a:p>
            <a:pPr algn="r"/>
            <a:endParaRPr lang="en-US"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4998720" cy="743448"/>
          </a:xfrm>
        </p:spPr>
        <p:txBody>
          <a:bodyPr>
            <a:normAutofit/>
          </a:bodyPr>
          <a:lstStyle/>
          <a:p>
            <a:r>
              <a:rPr lang="en-GB" sz="3200" dirty="0"/>
              <a:t>Project Title -</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5" y="4576469"/>
            <a:ext cx="6301811" cy="369332"/>
          </a:xfrm>
          <a:prstGeom prst="rect">
            <a:avLst/>
          </a:prstGeom>
          <a:noFill/>
        </p:spPr>
        <p:txBody>
          <a:bodyPr wrap="square" rtlCol="0">
            <a:spAutoFit/>
          </a:bodyPr>
          <a:lstStyle/>
          <a:p>
            <a:r>
              <a:rPr lang="en-US" b="1" dirty="0"/>
              <a:t>AICTE STU ID : </a:t>
            </a:r>
            <a:r>
              <a:rPr lang="en-IN" b="1" dirty="0"/>
              <a:t>STU6976124b6fa351769345611</a:t>
            </a:r>
            <a:endParaRPr lang="en-US" b="1" dirty="0"/>
          </a:p>
        </p:txBody>
      </p:sp>
      <p:sp>
        <p:nvSpPr>
          <p:cNvPr id="5" name="TextBox 4">
            <a:extLst>
              <a:ext uri="{FF2B5EF4-FFF2-40B4-BE49-F238E27FC236}">
                <a16:creationId xmlns:a16="http://schemas.microsoft.com/office/drawing/2014/main" id="{15388007-A03E-A5F5-3A8A-905BC12F4944}"/>
              </a:ext>
            </a:extLst>
          </p:cNvPr>
          <p:cNvSpPr txBox="1"/>
          <p:nvPr/>
        </p:nvSpPr>
        <p:spPr>
          <a:xfrm>
            <a:off x="3410819" y="2927239"/>
            <a:ext cx="5256247" cy="400110"/>
          </a:xfrm>
          <a:prstGeom prst="rect">
            <a:avLst/>
          </a:prstGeom>
          <a:noFill/>
        </p:spPr>
        <p:txBody>
          <a:bodyPr wrap="none" rtlCol="0">
            <a:spAutoFit/>
          </a:bodyPr>
          <a:lstStyle/>
          <a:p>
            <a:r>
              <a:rPr lang="en-US" sz="2000" b="1" dirty="0"/>
              <a:t>Seasonal Agriculture Performance Analysis</a:t>
            </a:r>
            <a:endParaRPr lang="en-IN" sz="2000"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62500" lnSpcReduction="20000"/>
          </a:bodyPr>
          <a:lstStyle/>
          <a:p>
            <a:pPr>
              <a:lnSpc>
                <a:spcPct val="100000"/>
              </a:lnSpc>
            </a:pPr>
            <a:r>
              <a:rPr lang="en-IN" sz="2800" dirty="0"/>
              <a:t>Agricultural activities are influenced by seasonal variations in environmental conditions, farming practices, resource availability and market conditions. As a result, agricultural performance may differ from one season to another. </a:t>
            </a:r>
          </a:p>
          <a:p>
            <a:pPr>
              <a:lnSpc>
                <a:spcPct val="100000"/>
              </a:lnSpc>
            </a:pPr>
            <a:r>
              <a:rPr lang="en-IN" sz="2800" dirty="0"/>
              <a:t>However, raw agricultural data does not clearly explain how agricultural performance changes across seasons or what patterns can be observed in different seasonal conditions. </a:t>
            </a:r>
          </a:p>
          <a:p>
            <a:pPr>
              <a:lnSpc>
                <a:spcPct val="100000"/>
              </a:lnSpc>
            </a:pPr>
            <a:r>
              <a:rPr lang="en-IN" sz="2800" dirty="0"/>
              <a:t>The problem is to </a:t>
            </a:r>
            <a:r>
              <a:rPr lang="en-IN" sz="2800" dirty="0" err="1"/>
              <a:t>analyze</a:t>
            </a:r>
            <a:r>
              <a:rPr lang="en-IN" sz="2800" dirty="0"/>
              <a:t> the given agricultural dataset and investigate seasonal differences in agricultural performance by identifying meaningful patterns, trends, relationships and variations within the available data.</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4"/>
            <a:ext cx="6276109" cy="454420"/>
          </a:xfrm>
        </p:spPr>
        <p:txBody>
          <a:bodyPr>
            <a:noAutofit/>
          </a:bodyPr>
          <a:lstStyle/>
          <a:p>
            <a:r>
              <a:rPr lang="en-IN" sz="4300" dirty="0"/>
              <a:t>Project Description</a:t>
            </a:r>
            <a:br>
              <a:rPr lang="en-IN" sz="1600" dirty="0"/>
            </a:br>
            <a:br>
              <a:rPr lang="en-IN" sz="1600" dirty="0"/>
            </a:br>
            <a:r>
              <a:rPr lang="en-IN" sz="1600" dirty="0"/>
              <a:t>This project </a:t>
            </a:r>
            <a:r>
              <a:rPr lang="en-IN" sz="1600" dirty="0" err="1"/>
              <a:t>analyzes</a:t>
            </a:r>
            <a:r>
              <a:rPr lang="en-IN" sz="1600" dirty="0"/>
              <a:t> seasonal agriculture performance using a dataset of 4,000 farming records. </a:t>
            </a:r>
            <a:br>
              <a:rPr lang="en-IN" sz="1600" dirty="0"/>
            </a:br>
            <a:r>
              <a:rPr lang="en-IN" sz="1600" dirty="0"/>
              <a:t>The dataset includes information about crops, seasons, geographical regions, weather conditions, soil properties, irrigation, resource usage, yield, production, revenue, and profit. </a:t>
            </a:r>
            <a:br>
              <a:rPr lang="en-IN" sz="1600" dirty="0"/>
            </a:br>
            <a:r>
              <a:rPr lang="en-IN" sz="1600" dirty="0"/>
              <a:t>The analysis compares agricultural performance across Kharif, Rabi, and Zaid seasons. </a:t>
            </a:r>
            <a:br>
              <a:rPr lang="en-IN" sz="1600" dirty="0"/>
            </a:br>
            <a:r>
              <a:rPr lang="en-IN" sz="1600" dirty="0"/>
              <a:t>It explores the relationship between environmental conditions, farming practices, resource usage, and crop yield. </a:t>
            </a:r>
            <a:br>
              <a:rPr lang="en-IN" sz="1600" dirty="0"/>
            </a:br>
            <a:r>
              <a:rPr lang="en-IN" sz="1600" dirty="0"/>
              <a:t>Key factors such as rainfall, irrigation methods, water efficiency, crop type, and profitability are </a:t>
            </a:r>
            <a:r>
              <a:rPr lang="en-IN" sz="1600" dirty="0" err="1"/>
              <a:t>analyzed</a:t>
            </a:r>
            <a:r>
              <a:rPr lang="en-IN" sz="1600" dirty="0"/>
              <a:t> using charts and statistical methods. </a:t>
            </a:r>
            <a:br>
              <a:rPr lang="en-IN" sz="1600" dirty="0"/>
            </a:br>
            <a:br>
              <a:rPr lang="en-GB" sz="1600" dirty="0"/>
            </a:br>
            <a:endParaRPr lang="en-IN" sz="16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91650E11-5997-DB91-E49E-2017036FF14E}"/>
              </a:ext>
            </a:extLst>
          </p:cNvPr>
          <p:cNvSpPr txBox="1"/>
          <p:nvPr/>
        </p:nvSpPr>
        <p:spPr>
          <a:xfrm>
            <a:off x="765111" y="1819469"/>
            <a:ext cx="184731" cy="369332"/>
          </a:xfrm>
          <a:prstGeom prst="rect">
            <a:avLst/>
          </a:prstGeom>
          <a:noFill/>
        </p:spPr>
        <p:txBody>
          <a:bodyPr wrap="none" rtlCol="0">
            <a:spAutoFit/>
          </a:bodyPr>
          <a:lstStyle/>
          <a:p>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55000" lnSpcReduction="20000"/>
          </a:bodyPr>
          <a:lstStyle/>
          <a:p>
            <a:pPr lvl="0"/>
            <a:r>
              <a:rPr lang="en-IN" sz="3600" b="1" dirty="0"/>
              <a:t>Farmers</a:t>
            </a:r>
            <a:r>
              <a:rPr lang="en-IN" sz="3600" dirty="0"/>
              <a:t> – To understand seasonal performance and choose suitable crops, irrigation methods, and farming practices. </a:t>
            </a:r>
          </a:p>
          <a:p>
            <a:pPr lvl="0"/>
            <a:r>
              <a:rPr lang="en-IN" sz="3600" b="1" dirty="0"/>
              <a:t>Agricultural Planners &amp; Government Agencies</a:t>
            </a:r>
            <a:r>
              <a:rPr lang="en-IN" sz="3600" dirty="0"/>
              <a:t> – To support agricultural planning, resource allocation, and seasonal strategies. </a:t>
            </a:r>
          </a:p>
          <a:p>
            <a:pPr lvl="0"/>
            <a:r>
              <a:rPr lang="en-IN" sz="3600" b="1" dirty="0"/>
              <a:t>Agribusinesses</a:t>
            </a:r>
            <a:r>
              <a:rPr lang="en-IN" sz="3600" dirty="0"/>
              <a:t> – To understand crop production, market conditions, and profitability. </a:t>
            </a:r>
          </a:p>
          <a:p>
            <a:pPr lvl="0"/>
            <a:r>
              <a:rPr lang="en-IN" sz="3600" b="1" dirty="0"/>
              <a:t>Agricultural Researchers</a:t>
            </a:r>
            <a:r>
              <a:rPr lang="en-IN" sz="3600" dirty="0"/>
              <a:t> – To study relationships between environmental conditions, farming practices, and crop performance. </a:t>
            </a:r>
          </a:p>
          <a:p>
            <a:pPr lvl="0"/>
            <a:r>
              <a:rPr lang="en-IN" sz="3600" b="1" dirty="0"/>
              <a:t>Data Analysts &amp; Agricultural Consultants</a:t>
            </a:r>
            <a:r>
              <a:rPr lang="en-IN" sz="3600" dirty="0"/>
              <a:t> – To </a:t>
            </a:r>
            <a:r>
              <a:rPr lang="en-IN" sz="3600" dirty="0" err="1"/>
              <a:t>analyze</a:t>
            </a:r>
            <a:r>
              <a:rPr lang="en-IN" sz="3600" dirty="0"/>
              <a:t> agricultural trends and provide data-driven recommendations.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00000"/>
              </a:lnSpc>
            </a:pPr>
            <a:r>
              <a:rPr lang="en-IN" dirty="0"/>
              <a:t>Python</a:t>
            </a:r>
          </a:p>
          <a:p>
            <a:pPr lvl="1">
              <a:lnSpc>
                <a:spcPct val="100000"/>
              </a:lnSpc>
            </a:pPr>
            <a:r>
              <a:rPr lang="en-IN" dirty="0"/>
              <a:t>Pandas</a:t>
            </a:r>
          </a:p>
          <a:p>
            <a:pPr lvl="1">
              <a:lnSpc>
                <a:spcPct val="100000"/>
              </a:lnSpc>
            </a:pPr>
            <a:r>
              <a:rPr lang="en-IN" dirty="0"/>
              <a:t>NumPy</a:t>
            </a:r>
          </a:p>
          <a:p>
            <a:pPr lvl="1">
              <a:lnSpc>
                <a:spcPct val="100000"/>
              </a:lnSpc>
            </a:pPr>
            <a:r>
              <a:rPr lang="en-IN" dirty="0"/>
              <a:t>Matplotlib</a:t>
            </a:r>
          </a:p>
          <a:p>
            <a:pPr lvl="1">
              <a:lnSpc>
                <a:spcPct val="100000"/>
              </a:lnSpc>
            </a:pPr>
            <a:r>
              <a:rPr lang="en-IN" dirty="0"/>
              <a:t>Seaborn</a:t>
            </a:r>
          </a:p>
          <a:p>
            <a:pPr lvl="1">
              <a:lnSpc>
                <a:spcPct val="100000"/>
              </a:lnSpc>
            </a:pPr>
            <a:r>
              <a:rPr lang="en-IN" dirty="0"/>
              <a:t>Jupyter Notebook</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ED3BB73B-99D3-07EC-4F10-E94557341245}"/>
              </a:ext>
            </a:extLst>
          </p:cNvPr>
          <p:cNvPicPr>
            <a:picLocks noChangeAspect="1"/>
          </p:cNvPicPr>
          <p:nvPr/>
        </p:nvPicPr>
        <p:blipFill>
          <a:blip r:embed="rId3"/>
          <a:stretch>
            <a:fillRect/>
          </a:stretch>
        </p:blipFill>
        <p:spPr>
          <a:xfrm>
            <a:off x="320983" y="1201586"/>
            <a:ext cx="8972308" cy="4610500"/>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06C5E2F5-2FD9-4E88-35BB-8B5F2D62E04F}"/>
              </a:ext>
            </a:extLst>
          </p:cNvPr>
          <p:cNvPicPr>
            <a:picLocks noChangeAspect="1"/>
          </p:cNvPicPr>
          <p:nvPr/>
        </p:nvPicPr>
        <p:blipFill>
          <a:blip r:embed="rId3"/>
          <a:stretch>
            <a:fillRect/>
          </a:stretch>
        </p:blipFill>
        <p:spPr>
          <a:xfrm>
            <a:off x="449945" y="1077257"/>
            <a:ext cx="8266409" cy="5090278"/>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B2C88255-74EF-B20D-A3E0-AC2D6E4D788E}"/>
              </a:ext>
            </a:extLst>
          </p:cNvPr>
          <p:cNvPicPr>
            <a:picLocks noChangeAspect="1"/>
          </p:cNvPicPr>
          <p:nvPr/>
        </p:nvPicPr>
        <p:blipFill>
          <a:blip r:embed="rId3"/>
          <a:stretch>
            <a:fillRect/>
          </a:stretch>
        </p:blipFill>
        <p:spPr>
          <a:xfrm>
            <a:off x="563990" y="1024139"/>
            <a:ext cx="10099540" cy="5749886"/>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3CB7E007-5820-05B4-2695-89DCB176CA1C}"/>
              </a:ext>
            </a:extLst>
          </p:cNvPr>
          <p:cNvPicPr>
            <a:picLocks noChangeAspect="1"/>
          </p:cNvPicPr>
          <p:nvPr/>
        </p:nvPicPr>
        <p:blipFill>
          <a:blip r:embed="rId3"/>
          <a:stretch>
            <a:fillRect/>
          </a:stretch>
        </p:blipFill>
        <p:spPr>
          <a:xfrm>
            <a:off x="1747519" y="1201586"/>
            <a:ext cx="5662516" cy="5416930"/>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46B281A9-15D0-37CE-3884-84D0CD34B25B}"/>
              </a:ext>
            </a:extLst>
          </p:cNvPr>
          <p:cNvPicPr>
            <a:picLocks noChangeAspect="1"/>
          </p:cNvPicPr>
          <p:nvPr/>
        </p:nvPicPr>
        <p:blipFill>
          <a:blip r:embed="rId3"/>
          <a:stretch>
            <a:fillRect/>
          </a:stretch>
        </p:blipFill>
        <p:spPr>
          <a:xfrm>
            <a:off x="675957" y="1201586"/>
            <a:ext cx="7835060" cy="4807328"/>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78BA9F95-B715-3D57-731B-F93EA7032A9D}"/>
              </a:ext>
            </a:extLst>
          </p:cNvPr>
          <p:cNvSpPr txBox="1"/>
          <p:nvPr/>
        </p:nvSpPr>
        <p:spPr>
          <a:xfrm>
            <a:off x="613433" y="1201586"/>
            <a:ext cx="6102220" cy="5078313"/>
          </a:xfrm>
          <a:prstGeom prst="rect">
            <a:avLst/>
          </a:prstGeom>
          <a:noFill/>
        </p:spPr>
        <p:txBody>
          <a:bodyPr wrap="square">
            <a:spAutoFit/>
          </a:bodyPr>
          <a:lstStyle/>
          <a:p>
            <a:pPr marL="342900" lvl="0" indent="-342900">
              <a:buFont typeface="Arial" panose="020B0604020202020204" pitchFamily="34" charset="0"/>
              <a:buChar char="•"/>
            </a:pPr>
            <a:r>
              <a:rPr lang="en-IN" b="1" dirty="0"/>
              <a:t>Larger &amp; Multi-Year Dataset</a:t>
            </a:r>
            <a:r>
              <a:rPr lang="en-IN" dirty="0"/>
              <a:t> – Include data from more regions and multiple years to identify long-term agricultural trends. </a:t>
            </a:r>
          </a:p>
          <a:p>
            <a:pPr marL="342900" lvl="0" indent="-342900">
              <a:buFont typeface="Arial" panose="020B0604020202020204" pitchFamily="34" charset="0"/>
              <a:buChar char="•"/>
            </a:pPr>
            <a:r>
              <a:rPr lang="en-IN" b="1" dirty="0"/>
              <a:t>Crop Yield Prediction</a:t>
            </a:r>
            <a:r>
              <a:rPr lang="en-IN" dirty="0"/>
              <a:t> – Develop Machine Learning models to predict crop yield based on weather, soil, and farming conditions. </a:t>
            </a:r>
          </a:p>
          <a:p>
            <a:pPr marL="342900" lvl="0" indent="-342900">
              <a:buFont typeface="Arial" panose="020B0604020202020204" pitchFamily="34" charset="0"/>
              <a:buChar char="•"/>
            </a:pPr>
            <a:r>
              <a:rPr lang="en-IN" b="1" dirty="0"/>
              <a:t>Weather &amp; Market Integration</a:t>
            </a:r>
            <a:r>
              <a:rPr lang="en-IN" dirty="0"/>
              <a:t> – Use real-time weather forecasts and market prices for more accurate analysis. </a:t>
            </a:r>
          </a:p>
          <a:p>
            <a:pPr marL="342900" lvl="0" indent="-342900">
              <a:buFont typeface="Arial" panose="020B0604020202020204" pitchFamily="34" charset="0"/>
              <a:buChar char="•"/>
            </a:pPr>
            <a:r>
              <a:rPr lang="en-IN" b="1" dirty="0"/>
              <a:t>Interactive Dashboard</a:t>
            </a:r>
            <a:r>
              <a:rPr lang="en-IN" dirty="0"/>
              <a:t> – Create dashboards using Power BI or Tableau for easier monitoring and decision-making. </a:t>
            </a:r>
          </a:p>
          <a:p>
            <a:pPr marL="342900" lvl="0" indent="-342900">
              <a:buFont typeface="Arial" panose="020B0604020202020204" pitchFamily="34" charset="0"/>
              <a:buChar char="•"/>
            </a:pPr>
            <a:r>
              <a:rPr lang="en-IN" b="1" dirty="0"/>
              <a:t>Resource Optimization</a:t>
            </a:r>
            <a:r>
              <a:rPr lang="en-IN" dirty="0"/>
              <a:t> – Recommend suitable irrigation, fertilizers, and farming practices to improve yield and reduce resource wastage. </a:t>
            </a:r>
          </a:p>
          <a:p>
            <a:pPr marL="342900" lvl="0" indent="-342900">
              <a:buFont typeface="Arial" panose="020B0604020202020204" pitchFamily="34" charset="0"/>
              <a:buChar char="•"/>
            </a:pPr>
            <a:r>
              <a:rPr lang="en-IN" b="1" dirty="0"/>
              <a:t>Early Risk Detection</a:t>
            </a:r>
            <a:r>
              <a:rPr lang="en-IN" dirty="0"/>
              <a:t> – Identify potential crop disease, pest, and environmental risks at an early stage.</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64B256FE-4F48-E5B9-1E35-ED54902267AB}"/>
              </a:ext>
            </a:extLst>
          </p:cNvPr>
          <p:cNvSpPr txBox="1"/>
          <p:nvPr/>
        </p:nvSpPr>
        <p:spPr>
          <a:xfrm>
            <a:off x="613433" y="1368903"/>
            <a:ext cx="6102220" cy="646331"/>
          </a:xfrm>
          <a:prstGeom prst="rect">
            <a:avLst/>
          </a:prstGeom>
          <a:noFill/>
        </p:spPr>
        <p:txBody>
          <a:bodyPr wrap="square">
            <a:spAutoFit/>
          </a:bodyPr>
          <a:lstStyle/>
          <a:p>
            <a:r>
              <a:rPr lang="en-IN" dirty="0">
                <a:hlinkClick r:id="rId3"/>
              </a:rPr>
              <a:t>https://github.com/siddharthmahajan2477-dot/Seasonal-Agriculture-Performance-Analysis.git</a:t>
            </a:r>
            <a:endParaRPr lang="en-IN"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B8F9A67E-92E2-39CE-984A-F785B073C4EF}"/>
              </a:ext>
            </a:extLst>
          </p:cNvPr>
          <p:cNvPicPr>
            <a:picLocks noChangeAspect="1"/>
          </p:cNvPicPr>
          <p:nvPr/>
        </p:nvPicPr>
        <p:blipFill>
          <a:blip r:embed="rId3"/>
          <a:stretch>
            <a:fillRect/>
          </a:stretch>
        </p:blipFill>
        <p:spPr>
          <a:xfrm>
            <a:off x="734344" y="1371725"/>
            <a:ext cx="7222700" cy="5100195"/>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610</TotalTime>
  <Words>473</Words>
  <Application>Microsoft Office PowerPoint</Application>
  <PresentationFormat>Widescreen</PresentationFormat>
  <Paragraphs>42</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vt:lpstr>
      <vt:lpstr>PROBLEM  STATEMENT</vt:lpstr>
      <vt:lpstr>Project Description  This project analyzes seasonal agriculture performance using a dataset of 4,000 farming records.  The dataset includes information about crops, seasons, geographical regions, weather conditions, soil properties, irrigation, resource usage, yield, production, revenue, and profit.  The analysis compares agricultural performance across Kharif, Rabi, and Zaid seasons.  It explores the relationship between environmental conditions, farming practices, resource usage, and crop yield.  Key factors such as rainfall, irrigation methods, water efficiency, crop type, and profitability are analyzed using charts and statistical methods.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Siddharth Mahajan</cp:lastModifiedBy>
  <cp:revision>100</cp:revision>
  <dcterms:created xsi:type="dcterms:W3CDTF">2021-07-11T13:13:15Z</dcterms:created>
  <dcterms:modified xsi:type="dcterms:W3CDTF">2026-09-17T15:55:19Z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